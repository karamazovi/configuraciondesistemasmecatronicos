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7936992" y="0"/>
            <a:ext cx="201168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6858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27AE60"/>
                </a:solidFill>
              </a:rPr>
              <a:t>SEMESTRE 2026-B2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91640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3800" b="1" i="0" noProof="0" dirty="0">
                <a:solidFill>
                  <a:srgbClr val="FFFFFF"/>
                </a:solidFill>
              </a:rPr>
              <a:t>Configuración de
Sistemas Mecatrónicos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200" b="1" i="0" noProof="0" dirty="0">
                <a:solidFill>
                  <a:srgbClr val="F39C12"/>
                </a:solidFill>
              </a:rPr>
              <a:t>Inducción al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6858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CCDDFF"/>
                </a:solidFill>
              </a:rPr>
              <a:t>Ingeniería Mecatrónica  |  IUD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66360"/>
            <a:ext cx="6858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AABBDD"/>
                </a:solidFill>
              </a:rPr>
              <a:t>Docente: Jose Mena Palomeque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1352" y="2011680"/>
            <a:ext cx="3200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800" b="0" i="0" noProof="0" dirty="0">
                <a:solidFill>
                  <a:srgbClr val="FFFFFF"/>
                </a:solidFill>
              </a:rPr>
              <a:t>⚙  Mecánica
🔌  Electrónica
💻  Informática
🎯 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Instituto Tecnológico Metropolitano – Facultad de Ingenierías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FFFFF"/>
                </a:solidFill>
              </a:rPr>
              <a:t>PRESENTACIÓN GENERAL DEL CURSO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521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0" i="0" noProof="0" dirty="0">
                <a:solidFill>
                  <a:srgbClr val="444444"/>
                </a:solidFill>
              </a:rPr>
              <a:t>Los sistemas mecatrónicos cuentan con múltiples aplicaciones: automatización de procesos industriales, tecnologías agrícolas avanzadas, minería y sector energético.
Su implementación contribuye a la reducción de costos, aumento de la seguridad y optimización de recursos, mejorando la eficiencia y competitividad en los diferentes sectores económicos.
En este curso desarrollaremos un proyecto integrador aplicando principios básicos de mecánica, electrónica e informática, usando herramientas de diseño y simulación para evaluar el rendimiento de los sistemas.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5394960"/>
            <a:ext cx="3291840" cy="82296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822960" y="542239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⚙  Mecánica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5394960"/>
            <a:ext cx="329184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571999" y="542239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🔌  Electrónica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598" y="5394960"/>
            <a:ext cx="3291840" cy="8229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8321038" y="542239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💻  Informática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FFFFF"/>
                </a:solidFill>
              </a:rPr>
              <a:t>OBJETIVO Y RESULTADO DE APRENDIZAJE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577840" cy="411480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b="1" i="0" noProof="0" dirty="0">
                <a:solidFill>
                  <a:srgbClr val="FFFFFF"/>
                </a:solidFill>
              </a:rPr>
              <a:t>Objetivo General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2316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0" i="0" noProof="0" dirty="0">
                <a:solidFill>
                  <a:srgbClr val="FFFFFF"/>
                </a:solidFill>
              </a:rPr>
              <a:t>Comprender los conceptos básicos de los sistemas mecatrónicos, así como su diseño, integración y programación, para aplicarlos de manera efectiva en proyectos de mecatrónica.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577840" cy="4114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601968" y="1755648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600" b="1" i="0" noProof="0" dirty="0">
                <a:solidFill>
                  <a:srgbClr val="FFFFFF"/>
                </a:solidFill>
              </a:rPr>
              <a:t>Resultado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2423160"/>
            <a:ext cx="51206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0" i="0" noProof="0" dirty="0">
                <a:solidFill>
                  <a:srgbClr val="FFFFFF"/>
                </a:solidFill>
              </a:rPr>
              <a:t>Desarrolla competencias para aplicar principios de control automático en sistemas mecatrónicos, optimizando procesos autónomos con técnicas y métodos de diseño modernos.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39C12"/>
                </a:solidFill>
              </a:rPr>
              <a:t>PREGUNTA ORIENTADORA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521440" cy="3291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900" b="0" i="1" noProof="0" dirty="0">
                <a:solidFill>
                  <a:srgbClr val="FFFFFF"/>
                </a:solidFill>
              </a:rPr>
              <a:t>« ¿De qué manera podrían los sistemas mecatrónicos adaptarse y contribuir a la transición hacia una economía verde que mitigue el calentamiento global y promueva la equidad e inclusión mediante el uso de nuevas tecnologías?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0" i="0" noProof="0" dirty="0">
                <a:solidFill>
                  <a:srgbClr val="CCDDFF"/>
                </a:solidFill>
              </a:rPr>
              <a:t>La sostenibilidad, la reducción de emisiones y el cierre de brechas tecnológicas son el hilo conductor del semestre.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5440680"/>
            <a:ext cx="292608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1463040" y="546811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i="0" noProof="0" dirty="0">
                <a:solidFill>
                  <a:srgbClr val="FFFFFF"/>
                </a:solidFill>
              </a:rPr>
              <a:t>🌿  Economía verde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5440680"/>
            <a:ext cx="2926080" cy="80467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4846320" y="546811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i="0" noProof="0" dirty="0">
                <a:solidFill>
                  <a:srgbClr val="FFFFFF"/>
                </a:solidFill>
              </a:rPr>
              <a:t>⚖  Equidad social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5440680"/>
            <a:ext cx="2926080" cy="804672"/>
          </a:xfrm>
          <a:prstGeom prst="rect">
            <a:avLst/>
          </a:prstGeom>
          <a:solidFill>
            <a:srgbClr val="6C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229600" y="5468112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i="0" noProof="0" dirty="0">
                <a:solidFill>
                  <a:srgbClr val="FFFFFF"/>
                </a:solidFill>
              </a:rPr>
              <a:t>🔬  Nuevas tecnologías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6C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FFFFF"/>
                </a:solidFill>
              </a:rPr>
              <a:t>¿QUÉ ES LA MECATRÓNICA?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521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0" i="0" noProof="0" dirty="0">
                <a:solidFill>
                  <a:srgbClr val="444444"/>
                </a:solidFill>
              </a:rPr>
              <a:t>La mecatrónica es la integración sinérgica de la ingeniería mecánica, electrónica, computación y control para diseñar y construir sistemas automatizados e inteligentes. Ofrece una perspectiva diferente: no se limita a principios mecánicos, sino que incorpora electrónica, control y programación desde la fase de diseño.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34640"/>
            <a:ext cx="11521440" cy="1417320"/>
          </a:xfrm>
          <a:prstGeom prst="rect">
            <a:avLst/>
          </a:prstGeom>
          <a:solidFill>
            <a:srgbClr val="6C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29077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39C12"/>
                </a:solidFill>
              </a:rPr>
              <a:t>💡  ¿Sabías que…?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01568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La palabra mecatrónica fue acuñada por primera vez por el ingeniero japonés Tetsuro Mori en 1969, uniendo «mecánica» y «electrónica». Desde entonces ha evolucionado para abarcar la informática y la ingeniería de control.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80560"/>
            <a:ext cx="2697480" cy="128016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594360" y="461772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⚙  Mecánica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80" y="4480560"/>
            <a:ext cx="2697480" cy="12801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3474720" y="461772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⚡  Electrónica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480560"/>
            <a:ext cx="2697480" cy="12801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355080" y="461772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💻  Computación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4480560"/>
            <a:ext cx="2697480" cy="12801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9235440" y="4617720"/>
            <a:ext cx="2514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🎛  Control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400" b="1" i="0" noProof="0" dirty="0">
                <a:solidFill>
                  <a:srgbClr val="FFFFFF"/>
                </a:solidFill>
              </a:rPr>
              <a:t>6 PRINCIPIOS FUNDAMENTALES DE LA MECATRÓNICA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" y="960120"/>
            <a:ext cx="3767328" cy="2377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Rectangle 5"/>
          <p:cNvSpPr/>
          <p:nvPr/>
        </p:nvSpPr>
        <p:spPr>
          <a:xfrm>
            <a:off x="292608" y="960120"/>
            <a:ext cx="502920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329184" y="1709928"/>
            <a:ext cx="411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i="0" noProof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124712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Combinación de disciplinas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7373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Integración de mecánica, electrónica y computación.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960120"/>
            <a:ext cx="3767328" cy="2377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Rectangle 10"/>
          <p:cNvSpPr/>
          <p:nvPr/>
        </p:nvSpPr>
        <p:spPr>
          <a:xfrm>
            <a:off x="4242816" y="960120"/>
            <a:ext cx="502920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279392" y="1709928"/>
            <a:ext cx="411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i="0" noProof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37176" y="1124712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Diseño sistemático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17373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Requisitos → especificaciones → implementación → puesta a punto.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960120"/>
            <a:ext cx="3767328" cy="2377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Rectangle 15"/>
          <p:cNvSpPr/>
          <p:nvPr/>
        </p:nvSpPr>
        <p:spPr>
          <a:xfrm>
            <a:off x="8193024" y="960120"/>
            <a:ext cx="502920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8229600" y="1709928"/>
            <a:ext cx="411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i="0" noProof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87384" y="1124712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Sistemas interactivos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7384" y="173736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Sensores, actuadores y control que responden al entorno.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" y="3566160"/>
            <a:ext cx="3767328" cy="2377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Rectangle 20"/>
          <p:cNvSpPr/>
          <p:nvPr/>
        </p:nvSpPr>
        <p:spPr>
          <a:xfrm>
            <a:off x="292608" y="3566160"/>
            <a:ext cx="502920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329184" y="4315968"/>
            <a:ext cx="411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i="0" noProof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" y="3730752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Optimización del sistema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34340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Ahorro de energía, velocidad, precisión y fiabilidad.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2816" y="3566160"/>
            <a:ext cx="3767328" cy="2377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Rectangle 25"/>
          <p:cNvSpPr/>
          <p:nvPr/>
        </p:nvSpPr>
        <p:spPr>
          <a:xfrm>
            <a:off x="4242816" y="3566160"/>
            <a:ext cx="502920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4279392" y="4315968"/>
            <a:ext cx="411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i="0" noProof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37176" y="3730752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Flexibilidad y adaptabilidad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7176" y="434340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Capacidad de adaptarse a diferentes condiciones y contextos.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93024" y="3566160"/>
            <a:ext cx="3767328" cy="2377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1" name="Rectangle 30"/>
          <p:cNvSpPr/>
          <p:nvPr/>
        </p:nvSpPr>
        <p:spPr>
          <a:xfrm>
            <a:off x="8193024" y="3566160"/>
            <a:ext cx="502920" cy="2377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2" name="TextBox 31"/>
          <p:cNvSpPr txBox="1"/>
          <p:nvPr/>
        </p:nvSpPr>
        <p:spPr>
          <a:xfrm>
            <a:off x="8229600" y="4315968"/>
            <a:ext cx="41148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000" b="1" i="0" noProof="0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87384" y="3730752"/>
            <a:ext cx="30632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Interfaz hombre-máquina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87384" y="4343400"/>
            <a:ext cx="3063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Interfaces intuitivas para facilitar el manejo del usuario.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6" name="TextBox 35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FFFFF"/>
                </a:solidFill>
              </a:rPr>
              <a:t>SISTEMAS DE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5577840" cy="4389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658368" y="1691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800" b="1" i="0" noProof="0" dirty="0">
                <a:solidFill>
                  <a:srgbClr val="FFFFFF"/>
                </a:solidFill>
              </a:rPr>
              <a:t>Lazo Cerrado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7744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La salida es medida y comparada con una referencia. El error generado se usa para ajustar el sistema en tiempo real.
➜  Mayor precisión y capacidad de respuesta.
➜  Se usa ante cambios en condiciones de operación.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5166360"/>
            <a:ext cx="530352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85800" y="51937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1" noProof="0" dirty="0" err="1">
                <a:solidFill>
                  <a:srgbClr val="F39C12"/>
                </a:solidFill>
              </a:rPr>
              <a:t>Ej</a:t>
            </a:r>
            <a:r>
              <a:rPr lang="es-CO" sz="1100" b="0" i="1" noProof="0" dirty="0">
                <a:solidFill>
                  <a:srgbClr val="F39C12"/>
                </a:solidFill>
              </a:rPr>
              <a:t>: Control de velocidad de motores  |  Posicionamiento de robots industriales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5577840" cy="43891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601968" y="1691640"/>
            <a:ext cx="5120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800" b="1" i="0" noProof="0" dirty="0">
                <a:solidFill>
                  <a:srgbClr val="FFFFFF"/>
                </a:solidFill>
              </a:rPr>
              <a:t>Lazo Abierto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237744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La salida NO contrasta referencias de valores. Sistema menos preciso, usado donde las condiciones son constantes y predecibles.
➜  Diseño simple y bajo costo.
➜  No detecta ni corrige perturbaciones.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60" y="5166360"/>
            <a:ext cx="5303520" cy="5486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629400" y="5193792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1" noProof="0" dirty="0" err="1">
                <a:solidFill>
                  <a:srgbClr val="F39C12"/>
                </a:solidFill>
              </a:rPr>
              <a:t>Ej</a:t>
            </a:r>
            <a:r>
              <a:rPr lang="es-CO" sz="1100" b="0" i="1" noProof="0" dirty="0">
                <a:solidFill>
                  <a:srgbClr val="F39C12"/>
                </a:solidFill>
              </a:rPr>
              <a:t>: Temporizadores simples  |  Lavadoras de ciclo fijo  |  Semáforos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400" b="1" i="0" noProof="0" dirty="0">
                <a:solidFill>
                  <a:srgbClr val="FFFFFF"/>
                </a:solidFill>
              </a:rPr>
              <a:t>COMPONENTES DE UN SISTEMA MECATRÓNICO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6868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CCDDFF"/>
                </a:solidFill>
              </a:rPr>
              <a:t>La configuración de sistemas mecatrónicos implica la selección y combinación de componentes mecánicos, electrónicos y de software para lograr sistemas integrados, flexibles, precisos y confiables.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37360"/>
            <a:ext cx="3767328" cy="4434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3767328" cy="6217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17830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i="0" noProof="0" dirty="0">
                <a:solidFill>
                  <a:srgbClr val="FFFFFF"/>
                </a:solidFill>
              </a:rPr>
              <a:t>⚙  MECÁNICOS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871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Actuadores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455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Transmisiones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0390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Estructuras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622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Mecanismos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Elementos de unión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15968" y="1737360"/>
            <a:ext cx="3767328" cy="4434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Rectangle 14"/>
          <p:cNvSpPr/>
          <p:nvPr/>
        </p:nvSpPr>
        <p:spPr>
          <a:xfrm>
            <a:off x="4315968" y="1737360"/>
            <a:ext cx="3767328" cy="6217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4407408" y="17830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i="0" noProof="0" dirty="0">
                <a:solidFill>
                  <a:srgbClr val="FFFFFF"/>
                </a:solidFill>
              </a:rPr>
              <a:t>🔌  ELECTRÓNICOS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8848" y="24871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Microcontroladores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31455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Circuitos de potencia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380390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Sensores electrónicos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44622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Interfaces de comunicación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66176" y="1737360"/>
            <a:ext cx="3767328" cy="4434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Rectangle 21"/>
          <p:cNvSpPr/>
          <p:nvPr/>
        </p:nvSpPr>
        <p:spPr>
          <a:xfrm>
            <a:off x="8266176" y="1737360"/>
            <a:ext cx="3767328" cy="62179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8357616" y="17830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400" b="1" i="0" noProof="0" dirty="0">
                <a:solidFill>
                  <a:srgbClr val="FFFFFF"/>
                </a:solidFill>
              </a:rPr>
              <a:t>💻  SOFTWARE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6" y="248716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Programas de control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3145536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Interfaces de usuario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3803904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Sistemas embebidos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6" y="4462272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• Simuladores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FFFFF"/>
                </a:solidFill>
              </a:rPr>
              <a:t>COMPONENTES MECÁNICOS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49039" cy="2148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noProof="0" dirty="0">
                <a:solidFill>
                  <a:srgbClr val="F39C12"/>
                </a:solidFill>
              </a:rPr>
              <a:t>⚡ Actuadores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2199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Convierten energía en movimiento físico.
Tipos: eléctricos, hidráulicos, neumáticos.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417320"/>
            <a:ext cx="3749039" cy="2148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416552" y="15544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noProof="0" dirty="0">
                <a:solidFill>
                  <a:srgbClr val="F39C12"/>
                </a:solidFill>
              </a:rPr>
              <a:t>⚙ Transmisiones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22199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Transfieren y modifican fuerzas y movimientos.
Engranes, poleas, correas, tornillos.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1417320"/>
            <a:ext cx="3749039" cy="2148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330184" y="155448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noProof="0" dirty="0">
                <a:solidFill>
                  <a:srgbClr val="F39C12"/>
                </a:solidFill>
              </a:rPr>
              <a:t>🏗 Estructuras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222199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Soportan cargas y mantienen la rigidez del sistema.
Chasis, marcos y bastidores.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49040"/>
            <a:ext cx="3749039" cy="2148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02920" y="3886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noProof="0" dirty="0">
                <a:solidFill>
                  <a:srgbClr val="F39C12"/>
                </a:solidFill>
              </a:rPr>
              <a:t>🔄 Mecanismos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5371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Convierten un tipo de movimiento en otro.
Bielas, levas, palancas, manivelas.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49040"/>
            <a:ext cx="3749039" cy="2148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0" y="388620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noProof="0" dirty="0">
                <a:solidFill>
                  <a:srgbClr val="F39C12"/>
                </a:solidFill>
              </a:rPr>
              <a:t>🔩 Elementos de unión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53712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Conectan componentes de forma segura.
Tornillos, soldadura, adhesivos, pasadores.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400" b="1" i="0" noProof="0" dirty="0">
                <a:solidFill>
                  <a:srgbClr val="FFFFFF"/>
                </a:solidFill>
              </a:rPr>
              <a:t>MICROCONTROLADORES Y COMPONENTES ELECTRÓNICOS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868680"/>
            <a:ext cx="1152144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1" noProof="0" dirty="0">
                <a:solidFill>
                  <a:srgbClr val="FFFFFF"/>
                </a:solidFill>
              </a:rPr>
              <a:t>💡  Arduino nació en 2005 en el Instituto </a:t>
            </a:r>
            <a:r>
              <a:rPr lang="es-CO" sz="1200" b="0" i="1" noProof="0" dirty="0" err="1">
                <a:solidFill>
                  <a:srgbClr val="FFFFFF"/>
                </a:solidFill>
              </a:rPr>
              <a:t>Ivrea</a:t>
            </a:r>
            <a:r>
              <a:rPr lang="es-CO" sz="1200" b="0" i="1" noProof="0" dirty="0">
                <a:solidFill>
                  <a:srgbClr val="FFFFFF"/>
                </a:solidFill>
              </a:rPr>
              <a:t> (Italia) como proyecto universitario — hoy es uno de los microcontroladores más populares del mundo.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2743200" cy="3291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000" b="0" i="0" noProof="0" dirty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27889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FFFFF"/>
                </a:solidFill>
              </a:rPr>
              <a:t>Arduino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340156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Placas de código abierto, ideal para prototipado rápido y aficionados.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3552" y="1828800"/>
            <a:ext cx="2743200" cy="3291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273552" y="19202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000" b="0" i="0" noProof="0" dirty="0">
                <a:solidFill>
                  <a:srgbClr val="FFFFFF"/>
                </a:solidFill>
              </a:rPr>
              <a:t>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7889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FFFFF"/>
                </a:solidFill>
              </a:rPr>
              <a:t>Raspberry 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40156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Mini computador de bajo costo para </a:t>
            </a:r>
            <a:r>
              <a:rPr lang="es-CO" sz="1200" b="0" i="0" noProof="0" dirty="0" err="1">
                <a:solidFill>
                  <a:srgbClr val="FFFFFF"/>
                </a:solidFill>
              </a:rPr>
              <a:t>IoT</a:t>
            </a:r>
            <a:r>
              <a:rPr lang="es-CO" sz="1200" b="0" i="0" noProof="0" dirty="0">
                <a:solidFill>
                  <a:srgbClr val="FFFFFF"/>
                </a:solidFill>
              </a:rPr>
              <a:t>, robótica y educación.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828800"/>
            <a:ext cx="2743200" cy="3291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181344" y="19202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000" b="0" i="0" noProof="0" dirty="0">
                <a:solidFill>
                  <a:srgbClr val="FFFFFF"/>
                </a:solidFill>
              </a:rPr>
              <a:t>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1072" y="27889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FFFFF"/>
                </a:solidFill>
              </a:rPr>
              <a:t>ESP8266/ESP32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340156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Microcontroladores </a:t>
            </a:r>
            <a:r>
              <a:rPr lang="es-CO" sz="1200" b="0" i="0" noProof="0" dirty="0" err="1">
                <a:solidFill>
                  <a:srgbClr val="FFFFFF"/>
                </a:solidFill>
              </a:rPr>
              <a:t>Wi</a:t>
            </a:r>
            <a:r>
              <a:rPr lang="es-CO" sz="1200" b="0" i="0" noProof="0" dirty="0">
                <a:solidFill>
                  <a:srgbClr val="FFFFFF"/>
                </a:solidFill>
              </a:rPr>
              <a:t>-Fi de bajo costo, muy usados en </a:t>
            </a:r>
            <a:r>
              <a:rPr lang="es-CO" sz="1200" b="0" i="0" noProof="0" dirty="0" err="1">
                <a:solidFill>
                  <a:srgbClr val="FFFFFF"/>
                </a:solidFill>
              </a:rPr>
              <a:t>IoT</a:t>
            </a:r>
            <a:r>
              <a:rPr lang="es-CO" sz="1200" b="0" i="0" noProof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89136" y="1828800"/>
            <a:ext cx="2743200" cy="3291840"/>
          </a:xfrm>
          <a:prstGeom prst="rect">
            <a:avLst/>
          </a:prstGeom>
          <a:solidFill>
            <a:srgbClr val="6C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9089136" y="1920240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000" b="0" i="0" noProof="0" dirty="0">
                <a:solidFill>
                  <a:srgbClr val="FFFFFF"/>
                </a:solidFill>
              </a:rPr>
              <a:t>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98864" y="2788920"/>
            <a:ext cx="2514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FFFFF"/>
                </a:solidFill>
              </a:rPr>
              <a:t>PIC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98864" y="3401568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Usados en aplicaciones industriales, médicas y de consumo por su versatilidad.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285232"/>
            <a:ext cx="11521440" cy="8686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5376672"/>
            <a:ext cx="111556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300" b="0" i="0" noProof="0" dirty="0">
                <a:solidFill>
                  <a:srgbClr val="FFFFFF"/>
                </a:solidFill>
              </a:rPr>
              <a:t>También incluyen:  Circuitos de potencia  •  Sensores electrónicos (fotodiodos, termopares, presión)  •  Interfaces USB / Serial / Ethernet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FFFFF"/>
                </a:solidFill>
              </a:rPr>
              <a:t>SOFTWARE CAD / CAE / CAM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67328" cy="274320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767328" cy="7132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200" b="1" i="0" noProof="0" dirty="0">
                <a:solidFill>
                  <a:srgbClr val="FFFFFF"/>
                </a:solidFill>
              </a:rPr>
              <a:t>CAD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1" i="0" noProof="0" dirty="0">
                <a:solidFill>
                  <a:srgbClr val="DDEEFF"/>
                </a:solidFill>
              </a:rPr>
              <a:t>Diseño Asistido por Computadora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34930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Crea modelos 3D de componentes, ensambles y sistemas completos con alto grado de precisión antes de la fabricación física.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9392" y="1417320"/>
            <a:ext cx="3767328" cy="2743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Rectangle 11"/>
          <p:cNvSpPr/>
          <p:nvPr/>
        </p:nvSpPr>
        <p:spPr>
          <a:xfrm>
            <a:off x="4279392" y="1417320"/>
            <a:ext cx="3767328" cy="7132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4416552" y="148132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200" b="1" i="0" noProof="0" dirty="0">
                <a:solidFill>
                  <a:srgbClr val="FFFFFF"/>
                </a:solidFill>
              </a:rPr>
              <a:t>CAE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59552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1" i="0" noProof="0" dirty="0">
                <a:solidFill>
                  <a:srgbClr val="DDEEFF"/>
                </a:solidFill>
              </a:rPr>
              <a:t>Análisis por Elementos Finitos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2212848"/>
            <a:ext cx="34930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Simula tensión, vibración, flujo y comportamiento dinámico para evaluar resistencia y rendimiento bajo condiciones de carga.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4" y="1417320"/>
            <a:ext cx="3767328" cy="2743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Rectangle 16"/>
          <p:cNvSpPr/>
          <p:nvPr/>
        </p:nvSpPr>
        <p:spPr>
          <a:xfrm>
            <a:off x="8193024" y="1417320"/>
            <a:ext cx="3767328" cy="71323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8330184" y="1481328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200" b="1" i="0" noProof="0" dirty="0">
                <a:solidFill>
                  <a:srgbClr val="FFFFFF"/>
                </a:solidFill>
              </a:rPr>
              <a:t>CAM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73184" y="150876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1" i="0" noProof="0" dirty="0">
                <a:solidFill>
                  <a:srgbClr val="DDEEFF"/>
                </a:solidFill>
              </a:rPr>
              <a:t>Fabricación Asistida por Computadora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0184" y="2212848"/>
            <a:ext cx="3493008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Simula procesos de fabricación (torno, fresa, CNC) para minimizar desperdicios, reducir tiempos y mejorar calidad.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297680"/>
            <a:ext cx="11521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noProof="0" dirty="0">
                <a:solidFill>
                  <a:srgbClr val="444444"/>
                </a:solidFill>
              </a:rPr>
              <a:t>Softwares de referencia: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2336" y="4389120"/>
            <a:ext cx="2926080" cy="34747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457200" y="44348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1" i="0" noProof="0" dirty="0">
                <a:solidFill>
                  <a:srgbClr val="FFFFFF"/>
                </a:solidFill>
              </a:rPr>
              <a:t>Software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28416" y="4389120"/>
            <a:ext cx="1463040" cy="34747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3383280" y="44348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1" i="0" noProof="0" dirty="0">
                <a:solidFill>
                  <a:srgbClr val="FFFFFF"/>
                </a:solidFill>
              </a:rPr>
              <a:t>Tipo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91456" y="4389120"/>
            <a:ext cx="2011680" cy="34747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4846320" y="44348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1" i="0" noProof="0" dirty="0">
                <a:solidFill>
                  <a:srgbClr val="FFFFFF"/>
                </a:solidFill>
              </a:rPr>
              <a:t>Licencia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03136" y="4389120"/>
            <a:ext cx="4572000" cy="347472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6858000" y="44348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1" i="0" noProof="0" dirty="0">
                <a:solidFill>
                  <a:srgbClr val="FFFFFF"/>
                </a:solidFill>
              </a:rPr>
              <a:t>Ventaja principal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" y="4736592"/>
            <a:ext cx="29260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457200" y="477316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Autodesk Inventor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28416" y="4736592"/>
            <a:ext cx="14630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3383280" y="477316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CAD/CAE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91456" y="4736592"/>
            <a:ext cx="20116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4846320" y="477316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Pago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03136" y="4736592"/>
            <a:ext cx="4572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6858000" y="477316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Potente, amplia comunidad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2336" y="5084064"/>
            <a:ext cx="292608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457200" y="512064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SolidWorks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328416" y="5084064"/>
            <a:ext cx="146304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3383280" y="5120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CAD/CAE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791456" y="5084064"/>
            <a:ext cx="201168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4846320" y="5120640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Pago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803136" y="5084064"/>
            <a:ext cx="457200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6858000" y="512064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Interfaz intuitiva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02336" y="5431536"/>
            <a:ext cx="29260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457200" y="5468112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 err="1">
                <a:solidFill>
                  <a:srgbClr val="444444"/>
                </a:solidFill>
              </a:rPr>
              <a:t>Fusion</a:t>
            </a:r>
            <a:r>
              <a:rPr lang="es-CO" sz="1000" b="0" i="0" noProof="0" dirty="0">
                <a:solidFill>
                  <a:srgbClr val="444444"/>
                </a:solidFill>
              </a:rPr>
              <a:t> 360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328416" y="5431536"/>
            <a:ext cx="14630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9" name="TextBox 48"/>
          <p:cNvSpPr txBox="1"/>
          <p:nvPr/>
        </p:nvSpPr>
        <p:spPr>
          <a:xfrm>
            <a:off x="3383280" y="546811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CAD/CAM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91456" y="5431536"/>
            <a:ext cx="20116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1" name="TextBox 50"/>
          <p:cNvSpPr txBox="1"/>
          <p:nvPr/>
        </p:nvSpPr>
        <p:spPr>
          <a:xfrm>
            <a:off x="4846320" y="5468112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Pago/Gratuito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803136" y="5431536"/>
            <a:ext cx="4572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3" name="TextBox 52"/>
          <p:cNvSpPr txBox="1"/>
          <p:nvPr/>
        </p:nvSpPr>
        <p:spPr>
          <a:xfrm>
            <a:off x="6858000" y="546811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Colaboración en nube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02336" y="5779008"/>
            <a:ext cx="292608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5" name="TextBox 54"/>
          <p:cNvSpPr txBox="1"/>
          <p:nvPr/>
        </p:nvSpPr>
        <p:spPr>
          <a:xfrm>
            <a:off x="457200" y="5815584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 err="1">
                <a:solidFill>
                  <a:srgbClr val="444444"/>
                </a:solidFill>
              </a:rPr>
              <a:t>FreeCAD</a:t>
            </a:r>
            <a:endParaRPr lang="es-CO" sz="1000" b="0" i="0" noProof="0" dirty="0">
              <a:solidFill>
                <a:srgbClr val="444444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328416" y="5779008"/>
            <a:ext cx="146304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7" name="TextBox 56"/>
          <p:cNvSpPr txBox="1"/>
          <p:nvPr/>
        </p:nvSpPr>
        <p:spPr>
          <a:xfrm>
            <a:off x="3383280" y="581558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CAD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91456" y="5779008"/>
            <a:ext cx="201168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9" name="TextBox 58"/>
          <p:cNvSpPr txBox="1"/>
          <p:nvPr/>
        </p:nvSpPr>
        <p:spPr>
          <a:xfrm>
            <a:off x="4846320" y="5815584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Código abierto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03136" y="5779008"/>
            <a:ext cx="457200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1" name="TextBox 60"/>
          <p:cNvSpPr txBox="1"/>
          <p:nvPr/>
        </p:nvSpPr>
        <p:spPr>
          <a:xfrm>
            <a:off x="6858000" y="581558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Multiplataforma, gratuito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02336" y="6126480"/>
            <a:ext cx="29260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3" name="TextBox 62"/>
          <p:cNvSpPr txBox="1"/>
          <p:nvPr/>
        </p:nvSpPr>
        <p:spPr>
          <a:xfrm>
            <a:off x="457200" y="6163056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ANSYS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328416" y="6126480"/>
            <a:ext cx="146304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5" name="TextBox 64"/>
          <p:cNvSpPr txBox="1"/>
          <p:nvPr/>
        </p:nvSpPr>
        <p:spPr>
          <a:xfrm>
            <a:off x="3383280" y="616305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CAE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791456" y="6126480"/>
            <a:ext cx="201168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7" name="TextBox 66"/>
          <p:cNvSpPr txBox="1"/>
          <p:nvPr/>
        </p:nvSpPr>
        <p:spPr>
          <a:xfrm>
            <a:off x="4846320" y="6163056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Pago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803136" y="6126480"/>
            <a:ext cx="4572000" cy="347472"/>
          </a:xfrm>
          <a:prstGeom prst="rect">
            <a:avLst/>
          </a:prstGeom>
          <a:solidFill>
            <a:srgbClr val="FFFFFF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9" name="TextBox 68"/>
          <p:cNvSpPr txBox="1"/>
          <p:nvPr/>
        </p:nvSpPr>
        <p:spPr>
          <a:xfrm>
            <a:off x="6858000" y="616305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Simulaciones robustas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02336" y="6473952"/>
            <a:ext cx="292608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1" name="TextBox 70"/>
          <p:cNvSpPr txBox="1"/>
          <p:nvPr/>
        </p:nvSpPr>
        <p:spPr>
          <a:xfrm>
            <a:off x="457200" y="6510528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 err="1">
                <a:solidFill>
                  <a:srgbClr val="444444"/>
                </a:solidFill>
              </a:rPr>
              <a:t>OpenFOAM</a:t>
            </a:r>
            <a:endParaRPr lang="es-CO" sz="1000" b="0" i="0" noProof="0" dirty="0">
              <a:solidFill>
                <a:srgbClr val="444444"/>
              </a:solidFill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3328416" y="6473952"/>
            <a:ext cx="146304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3" name="TextBox 72"/>
          <p:cNvSpPr txBox="1"/>
          <p:nvPr/>
        </p:nvSpPr>
        <p:spPr>
          <a:xfrm>
            <a:off x="3383280" y="651052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CAE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91456" y="6473952"/>
            <a:ext cx="201168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5" name="TextBox 74"/>
          <p:cNvSpPr txBox="1"/>
          <p:nvPr/>
        </p:nvSpPr>
        <p:spPr>
          <a:xfrm>
            <a:off x="4846320" y="6510528"/>
            <a:ext cx="1920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Código abierto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803136" y="6473952"/>
            <a:ext cx="4572000" cy="347472"/>
          </a:xfrm>
          <a:prstGeom prst="rect">
            <a:avLst/>
          </a:prstGeom>
          <a:solidFill>
            <a:srgbClr val="F2F4F8"/>
          </a:solidFill>
          <a:ln w="508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7" name="TextBox 76"/>
          <p:cNvSpPr txBox="1"/>
          <p:nvPr/>
        </p:nvSpPr>
        <p:spPr>
          <a:xfrm>
            <a:off x="6858000" y="6510528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000" b="0" i="0" noProof="0" dirty="0">
                <a:solidFill>
                  <a:srgbClr val="444444"/>
                </a:solidFill>
              </a:rPr>
              <a:t>Dinámica de fluidos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39C12"/>
                </a:solidFill>
              </a:rPr>
              <a:t>IMPRESIÓN 3D Y FABRICACIÓN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8696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CCDDFF"/>
                </a:solidFill>
              </a:rPr>
              <a:t>El desarrollo de tecnologías de la cuarta revolución industrial ha transformado la configuración de sistemas mecatrónicos, democratizando el proceso de diseño y fabricación.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19072"/>
            <a:ext cx="2788920" cy="42976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365760" y="17830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0" i="0" noProof="0" dirty="0">
                <a:solidFill>
                  <a:srgbClr val="FFFFFF"/>
                </a:solidFill>
              </a:rPr>
              <a:t>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670048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Impresión 3D
(Fabricación aditiva)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3493008"/>
            <a:ext cx="25786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Crea piezas 3D en horas a partir de modelos digitales. Acelera el prototipado y permite probar múltiples diseños a bajo costo.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719072"/>
            <a:ext cx="2788920" cy="42976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3310128" y="17830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0" i="0" noProof="0" dirty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2670048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Prototipado rápido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3493008"/>
            <a:ext cx="25786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Iteración veloz y validación temprana de conceptos. Facilita identificar problemas antes de la producción a gran escala.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719072"/>
            <a:ext cx="2788920" cy="42976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6254496" y="17830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0" i="0" noProof="0" dirty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670048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Mecanizado CNC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64224" y="3493008"/>
            <a:ext cx="25786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Fabricación de alta precisión controlada por computadora. Materiales variados integrados directamente en sistemas mecatrónicos.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98864" y="1719072"/>
            <a:ext cx="2788920" cy="4297680"/>
          </a:xfrm>
          <a:prstGeom prst="rect">
            <a:avLst/>
          </a:prstGeom>
          <a:solidFill>
            <a:srgbClr val="6C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9198864" y="1783080"/>
            <a:ext cx="2788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0" i="0" noProof="0" dirty="0">
                <a:solidFill>
                  <a:srgbClr val="FFFFFF"/>
                </a:solidFill>
              </a:rPr>
              <a:t>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08592" y="2670048"/>
            <a:ext cx="257860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Corte láser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3493008"/>
            <a:ext cx="2578608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Corte y grabado de alta precisión. Ideal para componentes planos y prototipos de acrílico, madera y metales.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72200"/>
            <a:ext cx="115214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548640" y="61996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b="0" i="0" noProof="0" dirty="0">
                <a:solidFill>
                  <a:srgbClr val="FFFFFF"/>
                </a:solidFill>
              </a:rPr>
              <a:t>🌐  Comunidades </a:t>
            </a:r>
            <a:r>
              <a:rPr lang="es-CO" sz="1200" b="0" i="0" noProof="0" dirty="0" err="1">
                <a:solidFill>
                  <a:srgbClr val="FFFFFF"/>
                </a:solidFill>
              </a:rPr>
              <a:t>maker</a:t>
            </a:r>
            <a:r>
              <a:rPr lang="es-CO" sz="1200" b="0" i="0" noProof="0" dirty="0">
                <a:solidFill>
                  <a:srgbClr val="FFFFFF"/>
                </a:solidFill>
              </a:rPr>
              <a:t>: </a:t>
            </a:r>
            <a:r>
              <a:rPr lang="es-CO" sz="1200" b="0" i="0" noProof="0" dirty="0" err="1">
                <a:solidFill>
                  <a:srgbClr val="FFFFFF"/>
                </a:solidFill>
              </a:rPr>
              <a:t>Thingiverse</a:t>
            </a:r>
            <a:r>
              <a:rPr lang="es-CO" sz="1200" b="0" i="0" noProof="0" dirty="0">
                <a:solidFill>
                  <a:srgbClr val="FFFFFF"/>
                </a:solidFill>
              </a:rPr>
              <a:t> (thingiverse.com)  •  </a:t>
            </a:r>
            <a:r>
              <a:rPr lang="es-CO" sz="1200" b="0" i="0" noProof="0" dirty="0" err="1">
                <a:solidFill>
                  <a:srgbClr val="FFFFFF"/>
                </a:solidFill>
              </a:rPr>
              <a:t>Instructables</a:t>
            </a:r>
            <a:r>
              <a:rPr lang="es-CO" sz="1200" b="0" i="0" noProof="0" dirty="0">
                <a:solidFill>
                  <a:srgbClr val="FFFFFF"/>
                </a:solidFill>
              </a:rPr>
              <a:t> (instructables.com)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FFFFF"/>
                </a:solidFill>
              </a:rPr>
              <a:t>COMPONENTES DE SOFTWARE EN MECATRÓNICA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767328" cy="2121408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🔵 MATLAB / </a:t>
            </a:r>
            <a:r>
              <a:rPr lang="es-CO" sz="1300" b="1" i="0" noProof="0" dirty="0" err="1">
                <a:solidFill>
                  <a:srgbClr val="FFFFFF"/>
                </a:solidFill>
              </a:rPr>
              <a:t>Simulink</a:t>
            </a:r>
            <a:endParaRPr lang="es-CO" sz="1300" b="1" i="0" noProof="0" dirty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2221992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Modelado, simulación y análisis de sistemas. </a:t>
            </a:r>
            <a:r>
              <a:rPr lang="es-CO" sz="1200" b="0" i="0" noProof="0" dirty="0" err="1">
                <a:solidFill>
                  <a:srgbClr val="FFFFFF"/>
                </a:solidFill>
              </a:rPr>
              <a:t>Simulink</a:t>
            </a:r>
            <a:r>
              <a:rPr lang="es-CO" sz="1200" b="0" i="0" noProof="0" dirty="0">
                <a:solidFill>
                  <a:srgbClr val="FFFFFF"/>
                </a:solidFill>
              </a:rPr>
              <a:t>: diseño de control por diagramas de bloques.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417320"/>
            <a:ext cx="3767328" cy="21214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4416552" y="1554480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🟠 LabVIEW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2221992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Adquisición de datos, control y automatización mediante programación gráfica (G).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1417320"/>
            <a:ext cx="3767328" cy="212140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8330184" y="1554480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🟡 PLC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2221992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Controladores lógicos programables dedicados al control de procesos industriales.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3767328" cy="21214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502920" y="3840480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🟢 Python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507992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Lenguaje versátil creciente en mecatrónica: control, </a:t>
            </a:r>
            <a:r>
              <a:rPr lang="es-CO" sz="1200" b="0" i="0" noProof="0" dirty="0" err="1">
                <a:solidFill>
                  <a:srgbClr val="FFFFFF"/>
                </a:solidFill>
              </a:rPr>
              <a:t>IoT</a:t>
            </a:r>
            <a:r>
              <a:rPr lang="es-CO" sz="1200" b="0" i="0" noProof="0" dirty="0">
                <a:solidFill>
                  <a:srgbClr val="FFFFFF"/>
                </a:solidFill>
              </a:rPr>
              <a:t>, ML y análisis de datos.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392" y="3703320"/>
            <a:ext cx="3767328" cy="2121408"/>
          </a:xfrm>
          <a:prstGeom prst="rect">
            <a:avLst/>
          </a:prstGeom>
          <a:solidFill>
            <a:srgbClr val="6C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4416552" y="3840480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🟣 Sistemas embebidos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507992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Arduino, Raspberry Pi, PIC, STM32 — controlan funciones específicas del sistema.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93024" y="3703320"/>
            <a:ext cx="3767328" cy="21214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8330184" y="3840480"/>
            <a:ext cx="349300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🔴 Simuladores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0184" y="4507992"/>
            <a:ext cx="3493008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Prueban algoritmos de control antes de implementación con hardware real.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400" b="1" i="0" noProof="0" dirty="0">
                <a:solidFill>
                  <a:srgbClr val="FFFFFF"/>
                </a:solidFill>
              </a:rPr>
              <a:t>CONEXIONES Y COMUNICACIONES ENTRE DISPOSITIVOS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41248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CCDDFF"/>
                </a:solidFill>
              </a:rPr>
              <a:t>Los componentes mecánicos, electrónicos y de software interactúan de forma sincrónica mediante protocolos de comunicación seleccionados según robustez, velocidad y confiabilidad.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64208"/>
            <a:ext cx="5669280" cy="2121408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FFFFF"/>
                </a:solidFill>
              </a:rPr>
              <a:t>🏭  Buses de campo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Enlazan sensores y actuadores con controladores en entornos industriales sin necesidad de cableado central.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64208"/>
            <a:ext cx="5669280" cy="21214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FFFFF"/>
                </a:solidFill>
              </a:rPr>
              <a:t>🌐  Ethernet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68880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Mayor capacidad y velocidad de transferencia. Ideal cuando se transmite gran cantidad de datos de forma confiable.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950208"/>
            <a:ext cx="5669280" cy="21214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548640" y="4114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FFFFF"/>
                </a:solidFill>
              </a:rPr>
              <a:t>📡  Inalámbrico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754880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 err="1">
                <a:solidFill>
                  <a:srgbClr val="FFFFFF"/>
                </a:solidFill>
              </a:rPr>
              <a:t>Wi</a:t>
            </a:r>
            <a:r>
              <a:rPr lang="es-CO" sz="1300" b="0" i="0" noProof="0" dirty="0">
                <a:solidFill>
                  <a:srgbClr val="FFFFFF"/>
                </a:solidFill>
              </a:rPr>
              <a:t>-Fi, Bluetooth, </a:t>
            </a:r>
            <a:r>
              <a:rPr lang="es-CO" sz="1300" b="0" i="0" noProof="0" dirty="0" err="1">
                <a:solidFill>
                  <a:srgbClr val="FFFFFF"/>
                </a:solidFill>
              </a:rPr>
              <a:t>Zigbee</a:t>
            </a:r>
            <a:r>
              <a:rPr lang="es-CO" sz="1300" b="0" i="0" noProof="0" dirty="0">
                <a:solidFill>
                  <a:srgbClr val="FFFFFF"/>
                </a:solidFill>
              </a:rPr>
              <a:t> y radiofrecuencia cuando hay limitaciones de espacio o diseño.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950208"/>
            <a:ext cx="5669280" cy="2121408"/>
          </a:xfrm>
          <a:prstGeom prst="rect">
            <a:avLst/>
          </a:prstGeom>
          <a:solidFill>
            <a:srgbClr val="6C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FFFFF"/>
                </a:solidFill>
              </a:rPr>
              <a:t>🔗  Redes distribuidas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754880"/>
            <a:ext cx="5303520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0" i="0" noProof="0" dirty="0">
                <a:solidFill>
                  <a:srgbClr val="FFFFFF"/>
                </a:solidFill>
              </a:rPr>
              <a:t>Sistemas grandes divididos en módulos interconectados para mayor flexibilidad de diseño y control.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6400800"/>
            <a:ext cx="11521440" cy="1645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Rectangle 18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FFFFF"/>
                </a:solidFill>
              </a:rPr>
              <a:t>PROCESO DE CONFIGURACIÓN DE UN SISTEMA MECATRÓNICO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715000" cy="150876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658368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02336" y="1801368"/>
            <a:ext cx="585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508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Definición de requisitos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07568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FFFFFF"/>
                </a:solidFill>
              </a:rPr>
              <a:t>Identificar funciones, contexto de operación y características de rendimiento.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5715000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658368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6300216" y="1801368"/>
            <a:ext cx="585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13448" y="150876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Análisis funcional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13448" y="2075688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FFFFFF"/>
                </a:solidFill>
              </a:rPr>
              <a:t>Dividir el sistema en tareas pequeñas para entender la interacción entre componentes.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081528"/>
            <a:ext cx="5715000" cy="150876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Rectangle 16"/>
          <p:cNvSpPr/>
          <p:nvPr/>
        </p:nvSpPr>
        <p:spPr>
          <a:xfrm>
            <a:off x="365760" y="3081528"/>
            <a:ext cx="658368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402336" y="3465576"/>
            <a:ext cx="585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317296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Selección de componentes </a:t>
            </a:r>
            <a:r>
              <a:rPr lang="es-CO" sz="1300" b="1" i="0" noProof="0" dirty="0" err="1">
                <a:solidFill>
                  <a:srgbClr val="F39C12"/>
                </a:solidFill>
              </a:rPr>
              <a:t>mec</a:t>
            </a:r>
            <a:r>
              <a:rPr lang="es-CO" sz="1300" b="1" i="0" noProof="0" dirty="0">
                <a:solidFill>
                  <a:srgbClr val="F39C12"/>
                </a:solidFill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" y="3739896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FFFFFF"/>
                </a:solidFill>
              </a:rPr>
              <a:t>Estructuras, transmisiones, actuadores: considerar resistencia, rigidez y compatibilidad.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081528"/>
            <a:ext cx="5715000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Rectangle 21"/>
          <p:cNvSpPr/>
          <p:nvPr/>
        </p:nvSpPr>
        <p:spPr>
          <a:xfrm>
            <a:off x="6263640" y="3081528"/>
            <a:ext cx="658368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6300216" y="3465576"/>
            <a:ext cx="585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3172968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Elección de sensores y </a:t>
            </a:r>
            <a:r>
              <a:rPr lang="es-CO" sz="1300" b="1" i="0" noProof="0" dirty="0" err="1">
                <a:solidFill>
                  <a:srgbClr val="F39C12"/>
                </a:solidFill>
              </a:rPr>
              <a:t>elect</a:t>
            </a:r>
            <a:r>
              <a:rPr lang="es-CO" sz="1300" b="1" i="0" noProof="0" dirty="0">
                <a:solidFill>
                  <a:srgbClr val="F39C12"/>
                </a:solidFill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3739896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FFFFFF"/>
                </a:solidFill>
              </a:rPr>
              <a:t>Sensores de posición, velocidad, fuerza, temperatura. Evaluar precisión y respuesta dinámica.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745736"/>
            <a:ext cx="5715000" cy="150876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Rectangle 26"/>
          <p:cNvSpPr/>
          <p:nvPr/>
        </p:nvSpPr>
        <p:spPr>
          <a:xfrm>
            <a:off x="365760" y="4745736"/>
            <a:ext cx="658368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402336" y="5129784"/>
            <a:ext cx="585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83717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Diseño del sistema de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" y="5404104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FFFFFF"/>
                </a:solidFill>
              </a:rPr>
              <a:t>Algoritmos de control, controladores y actuadores para el funcionamiento óptimo.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745736"/>
            <a:ext cx="5715000" cy="1508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2" name="Rectangle 31"/>
          <p:cNvSpPr/>
          <p:nvPr/>
        </p:nvSpPr>
        <p:spPr>
          <a:xfrm>
            <a:off x="6263640" y="4745736"/>
            <a:ext cx="658368" cy="15087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6300216" y="5129784"/>
            <a:ext cx="585216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3448" y="483717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39C12"/>
                </a:solidFill>
              </a:rPr>
              <a:t>Integración y pruebas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13448" y="5404104"/>
            <a:ext cx="4846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FFFFFF"/>
                </a:solidFill>
              </a:rPr>
              <a:t>Unir todos los componentes y realizar pruebas exhaustivas antes de puesta en marcha.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FFFFF"/>
                </a:solidFill>
              </a:rPr>
              <a:t>CRONOGRAMA GENERAL DE LA ASIGNATURA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298448"/>
            <a:ext cx="4114800" cy="676656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274320" y="1408176"/>
            <a:ext cx="3977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300" b="1" i="0" noProof="0" dirty="0">
                <a:solidFill>
                  <a:srgbClr val="FFFFFF"/>
                </a:solidFill>
              </a:rPr>
              <a:t>Actividad de aprendizaje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1298448"/>
            <a:ext cx="4389120" cy="676656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4389120" y="1408176"/>
            <a:ext cx="4251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300" b="1" i="0" noProof="0" dirty="0">
                <a:solidFill>
                  <a:srgbClr val="FFFFFF"/>
                </a:solidFill>
              </a:rPr>
              <a:t>Evidencia de aprendizaje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705088" y="1298448"/>
            <a:ext cx="1600200" cy="676656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8778240" y="1408176"/>
            <a:ext cx="1463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300" b="1" i="0" noProof="0" dirty="0">
                <a:solidFill>
                  <a:srgbClr val="FFFFFF"/>
                </a:solidFill>
              </a:rPr>
              <a:t>Semana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05288" y="1298448"/>
            <a:ext cx="1417320" cy="676656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0378440" y="1408176"/>
            <a:ext cx="1280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300" b="1" i="0" noProof="0" dirty="0" err="1">
                <a:solidFill>
                  <a:srgbClr val="FFFFFF"/>
                </a:solidFill>
              </a:rPr>
              <a:t>Pond</a:t>
            </a:r>
            <a:r>
              <a:rPr lang="es-CO" sz="1300" b="1" i="0" noProof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1168" y="1975104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274320" y="2066544"/>
            <a:ext cx="3977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444444"/>
                </a:solidFill>
              </a:rPr>
              <a:t>AA0. Conocimientos previos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975104"/>
            <a:ext cx="43891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4389120" y="2066544"/>
            <a:ext cx="4251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444444"/>
                </a:solidFill>
              </a:rPr>
              <a:t>EA0. Prueba diagnóstica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05088" y="1975104"/>
            <a:ext cx="16002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8778240" y="2066544"/>
            <a:ext cx="1463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100" b="0" i="0" noProof="0" dirty="0">
                <a:solidFill>
                  <a:srgbClr val="444444"/>
                </a:solidFill>
              </a:rPr>
              <a:t>Semana 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05288" y="1975104"/>
            <a:ext cx="14173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10378440" y="2066544"/>
            <a:ext cx="1280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100" b="0" i="0" noProof="0" dirty="0">
                <a:solidFill>
                  <a:srgbClr val="444444"/>
                </a:solidFill>
              </a:rPr>
              <a:t>0 %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2651760"/>
            <a:ext cx="4114800" cy="676656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274320" y="2743200"/>
            <a:ext cx="3977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444444"/>
                </a:solidFill>
              </a:rPr>
              <a:t>AA1. Introducción a los sistemas mecatrónicos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968" y="2651760"/>
            <a:ext cx="4389120" cy="676656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5" name="TextBox 24"/>
          <p:cNvSpPr txBox="1"/>
          <p:nvPr/>
        </p:nvSpPr>
        <p:spPr>
          <a:xfrm>
            <a:off x="4389120" y="2743200"/>
            <a:ext cx="4251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444444"/>
                </a:solidFill>
              </a:rPr>
              <a:t>EA1. Proyecto integrador – Parte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05088" y="2651760"/>
            <a:ext cx="1600200" cy="676656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8778240" y="2743200"/>
            <a:ext cx="1463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100" b="0" i="0" noProof="0" dirty="0">
                <a:solidFill>
                  <a:srgbClr val="444444"/>
                </a:solidFill>
              </a:rPr>
              <a:t>Semanas 2-3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05288" y="2651760"/>
            <a:ext cx="1417320" cy="676656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9" name="TextBox 28"/>
          <p:cNvSpPr txBox="1"/>
          <p:nvPr/>
        </p:nvSpPr>
        <p:spPr>
          <a:xfrm>
            <a:off x="10378440" y="2743200"/>
            <a:ext cx="1280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100" b="0" i="0" noProof="0" dirty="0">
                <a:solidFill>
                  <a:srgbClr val="444444"/>
                </a:solidFill>
              </a:rPr>
              <a:t>20 %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1168" y="3328416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274320" y="3419856"/>
            <a:ext cx="3977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444444"/>
                </a:solidFill>
              </a:rPr>
              <a:t>AA2. Sensores y actuadores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3328416"/>
            <a:ext cx="43891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3" name="TextBox 32"/>
          <p:cNvSpPr txBox="1"/>
          <p:nvPr/>
        </p:nvSpPr>
        <p:spPr>
          <a:xfrm>
            <a:off x="4389120" y="3419856"/>
            <a:ext cx="4251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444444"/>
                </a:solidFill>
              </a:rPr>
              <a:t>EA2. Proyecto integrador – Parte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05088" y="3328416"/>
            <a:ext cx="16002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8778240" y="3419856"/>
            <a:ext cx="1463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100" b="0" i="0" noProof="0" dirty="0">
                <a:solidFill>
                  <a:srgbClr val="444444"/>
                </a:solidFill>
              </a:rPr>
              <a:t>Semanas 4-5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305288" y="3328416"/>
            <a:ext cx="14173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7" name="TextBox 36"/>
          <p:cNvSpPr txBox="1"/>
          <p:nvPr/>
        </p:nvSpPr>
        <p:spPr>
          <a:xfrm>
            <a:off x="10378440" y="3419856"/>
            <a:ext cx="1280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100" b="0" i="0" noProof="0" dirty="0">
                <a:solidFill>
                  <a:srgbClr val="444444"/>
                </a:solidFill>
              </a:rPr>
              <a:t>25 %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01168" y="4005072"/>
            <a:ext cx="4114800" cy="676656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274320" y="4096512"/>
            <a:ext cx="3977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444444"/>
                </a:solidFill>
              </a:rPr>
              <a:t>AA3. Comunicación en sistemas mecatrónicos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15968" y="4005072"/>
            <a:ext cx="4389120" cy="676656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1" name="TextBox 40"/>
          <p:cNvSpPr txBox="1"/>
          <p:nvPr/>
        </p:nvSpPr>
        <p:spPr>
          <a:xfrm>
            <a:off x="4389120" y="4096512"/>
            <a:ext cx="4251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444444"/>
                </a:solidFill>
              </a:rPr>
              <a:t>EA3. Proyecto integrador – Parte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705088" y="4005072"/>
            <a:ext cx="1600200" cy="676656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3" name="TextBox 42"/>
          <p:cNvSpPr txBox="1"/>
          <p:nvPr/>
        </p:nvSpPr>
        <p:spPr>
          <a:xfrm>
            <a:off x="8778240" y="4096512"/>
            <a:ext cx="1463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100" b="0" i="0" noProof="0" dirty="0">
                <a:solidFill>
                  <a:srgbClr val="444444"/>
                </a:solidFill>
              </a:rPr>
              <a:t>Semanas 6-7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305288" y="4005072"/>
            <a:ext cx="1417320" cy="676656"/>
          </a:xfrm>
          <a:prstGeom prst="rect">
            <a:avLst/>
          </a:prstGeom>
          <a:solidFill>
            <a:srgbClr val="F2F4F8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5" name="TextBox 44"/>
          <p:cNvSpPr txBox="1"/>
          <p:nvPr/>
        </p:nvSpPr>
        <p:spPr>
          <a:xfrm>
            <a:off x="10378440" y="4096512"/>
            <a:ext cx="1280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100" b="0" i="0" noProof="0" dirty="0">
                <a:solidFill>
                  <a:srgbClr val="444444"/>
                </a:solidFill>
              </a:rPr>
              <a:t>25 %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01168" y="4681728"/>
            <a:ext cx="41148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7" name="TextBox 46"/>
          <p:cNvSpPr txBox="1"/>
          <p:nvPr/>
        </p:nvSpPr>
        <p:spPr>
          <a:xfrm>
            <a:off x="274320" y="4773168"/>
            <a:ext cx="39776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444444"/>
                </a:solidFill>
              </a:rPr>
              <a:t>Actividad de cierre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15968" y="4681728"/>
            <a:ext cx="438912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9" name="TextBox 48"/>
          <p:cNvSpPr txBox="1"/>
          <p:nvPr/>
        </p:nvSpPr>
        <p:spPr>
          <a:xfrm>
            <a:off x="4389120" y="4773168"/>
            <a:ext cx="42519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444444"/>
                </a:solidFill>
              </a:rPr>
              <a:t>EA4. Entrega final del proyecto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05088" y="4681728"/>
            <a:ext cx="1600200" cy="676656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1" name="TextBox 50"/>
          <p:cNvSpPr txBox="1"/>
          <p:nvPr/>
        </p:nvSpPr>
        <p:spPr>
          <a:xfrm>
            <a:off x="8778240" y="4773168"/>
            <a:ext cx="146304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100" b="0" i="0" noProof="0" dirty="0">
                <a:solidFill>
                  <a:srgbClr val="444444"/>
                </a:solidFill>
              </a:rPr>
              <a:t>Semana 8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305288" y="4681728"/>
            <a:ext cx="1417320" cy="676656"/>
          </a:xfrm>
          <a:prstGeom prst="rect">
            <a:avLst/>
          </a:prstGeom>
          <a:solidFill>
            <a:srgbClr val="27AE60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3" name="TextBox 52"/>
          <p:cNvSpPr txBox="1"/>
          <p:nvPr/>
        </p:nvSpPr>
        <p:spPr>
          <a:xfrm>
            <a:off x="10378440" y="4773168"/>
            <a:ext cx="1280160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100" b="0" i="0" noProof="0" dirty="0">
                <a:solidFill>
                  <a:srgbClr val="FFFFFF"/>
                </a:solidFill>
              </a:rPr>
              <a:t>30 %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5" name="TextBox 54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39C12"/>
                </a:solidFill>
              </a:rPr>
              <a:t>FECHAS DE ENTREGA – SEMESTRE 2026-1</a:t>
            </a:r>
          </a:p>
        </p:txBody>
      </p:sp>
      <p:sp>
        <p:nvSpPr>
          <p:cNvPr id="5" name="Rectangle 4"/>
          <p:cNvSpPr/>
          <p:nvPr/>
        </p:nvSpPr>
        <p:spPr>
          <a:xfrm>
            <a:off x="310896" y="1005840"/>
            <a:ext cx="2651760" cy="47548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Rectangle 5"/>
          <p:cNvSpPr/>
          <p:nvPr/>
        </p:nvSpPr>
        <p:spPr>
          <a:xfrm>
            <a:off x="310896" y="1005840"/>
            <a:ext cx="265176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402336" y="107899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EA1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1773936"/>
            <a:ext cx="24323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Proyecto Integrador
Parte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" y="3017520"/>
            <a:ext cx="24323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DDEEFF"/>
                </a:solidFill>
              </a:rPr>
              <a:t>Unidad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" y="3547872"/>
            <a:ext cx="2432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noProof="0" dirty="0">
                <a:solidFill>
                  <a:srgbClr val="FFFFFF"/>
                </a:solidFill>
              </a:rPr>
              <a:t>📅  3 de mayo
23:59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457200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39C12"/>
                </a:solidFill>
              </a:rPr>
              <a:t>100 </a:t>
            </a:r>
            <a:r>
              <a:rPr lang="es-CO" sz="1500" b="1" i="0" noProof="0" dirty="0" err="1">
                <a:solidFill>
                  <a:srgbClr val="F39C12"/>
                </a:solidFill>
              </a:rPr>
              <a:t>pts</a:t>
            </a:r>
            <a:endParaRPr lang="es-CO" sz="1500" b="1" i="0" noProof="0" dirty="0">
              <a:solidFill>
                <a:srgbClr val="F39C12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82696" y="1005840"/>
            <a:ext cx="2651760" cy="475488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3" name="Rectangle 12"/>
          <p:cNvSpPr/>
          <p:nvPr/>
        </p:nvSpPr>
        <p:spPr>
          <a:xfrm>
            <a:off x="3282696" y="1005840"/>
            <a:ext cx="265176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3374136" y="107899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EA2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92424" y="1773936"/>
            <a:ext cx="24323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Proyecto Integrador
Parte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92424" y="3017520"/>
            <a:ext cx="24323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DDEEFF"/>
                </a:solidFill>
              </a:rPr>
              <a:t>Unidad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3547872"/>
            <a:ext cx="2432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noProof="0" dirty="0">
                <a:solidFill>
                  <a:srgbClr val="FFFFFF"/>
                </a:solidFill>
              </a:rPr>
              <a:t>📅  17 de mayo
23:59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457200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39C12"/>
                </a:solidFill>
              </a:rPr>
              <a:t>100 </a:t>
            </a:r>
            <a:r>
              <a:rPr lang="es-CO" sz="1500" b="1" i="0" noProof="0" dirty="0" err="1">
                <a:solidFill>
                  <a:srgbClr val="F39C12"/>
                </a:solidFill>
              </a:rPr>
              <a:t>pts</a:t>
            </a:r>
            <a:endParaRPr lang="es-CO" sz="1500" b="1" i="0" noProof="0" dirty="0">
              <a:solidFill>
                <a:srgbClr val="F39C1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254496" y="1005840"/>
            <a:ext cx="2651760" cy="47548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Rectangle 19"/>
          <p:cNvSpPr/>
          <p:nvPr/>
        </p:nvSpPr>
        <p:spPr>
          <a:xfrm>
            <a:off x="6254496" y="1005840"/>
            <a:ext cx="265176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6345936" y="107899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EA3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4224" y="1773936"/>
            <a:ext cx="24323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Presentación y muestra
técnica  (presencial)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017520"/>
            <a:ext cx="24323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DDEEFF"/>
                </a:solidFill>
              </a:rPr>
              <a:t>Unidad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64224" y="3547872"/>
            <a:ext cx="2432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noProof="0" dirty="0">
                <a:solidFill>
                  <a:srgbClr val="FFFFFF"/>
                </a:solidFill>
              </a:rPr>
              <a:t>📅  23 de mayo
23:59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457200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F39C12"/>
                </a:solidFill>
              </a:rPr>
              <a:t>100 </a:t>
            </a:r>
            <a:r>
              <a:rPr lang="es-CO" sz="1500" b="1" i="0" noProof="0" dirty="0" err="1">
                <a:solidFill>
                  <a:srgbClr val="F39C12"/>
                </a:solidFill>
              </a:rPr>
              <a:t>pts</a:t>
            </a:r>
            <a:endParaRPr lang="es-CO" sz="1500" b="1" i="0" noProof="0" dirty="0">
              <a:solidFill>
                <a:srgbClr val="F39C12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226296" y="1005840"/>
            <a:ext cx="2651760" cy="47548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7" name="Rectangle 26"/>
          <p:cNvSpPr/>
          <p:nvPr/>
        </p:nvSpPr>
        <p:spPr>
          <a:xfrm>
            <a:off x="9226296" y="1005840"/>
            <a:ext cx="2651760" cy="65836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8" name="TextBox 27"/>
          <p:cNvSpPr txBox="1"/>
          <p:nvPr/>
        </p:nvSpPr>
        <p:spPr>
          <a:xfrm>
            <a:off x="9317736" y="1078992"/>
            <a:ext cx="2468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200" b="1" i="0" noProof="0" dirty="0">
                <a:solidFill>
                  <a:srgbClr val="FFFFFF"/>
                </a:solidFill>
              </a:rPr>
              <a:t>EA4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36024" y="1773936"/>
            <a:ext cx="243230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Programación, </a:t>
            </a:r>
            <a:r>
              <a:rPr lang="es-CO" sz="1300" b="1" i="0" noProof="0" dirty="0" err="1">
                <a:solidFill>
                  <a:srgbClr val="FFFFFF"/>
                </a:solidFill>
              </a:rPr>
              <a:t>config</a:t>
            </a:r>
            <a:r>
              <a:rPr lang="es-CO" sz="1300" b="1" i="0" noProof="0" dirty="0">
                <a:solidFill>
                  <a:srgbClr val="FFFFFF"/>
                </a:solidFill>
              </a:rPr>
              <a:t>.
y pruebas carro BT 3D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36024" y="3017520"/>
            <a:ext cx="243230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100" b="0" i="0" noProof="0" dirty="0">
                <a:solidFill>
                  <a:srgbClr val="DDEEFF"/>
                </a:solidFill>
              </a:rPr>
              <a:t>Unidad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36024" y="3547872"/>
            <a:ext cx="2432304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1" i="0" noProof="0" dirty="0">
                <a:solidFill>
                  <a:srgbClr val="FFFFFF"/>
                </a:solidFill>
              </a:rPr>
              <a:t>📅  31 de mayo
23:59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36024" y="4572000"/>
            <a:ext cx="243230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500" b="1" i="0" noProof="0" dirty="0">
                <a:solidFill>
                  <a:srgbClr val="1A3A5C"/>
                </a:solidFill>
              </a:rPr>
              <a:t>100 </a:t>
            </a:r>
            <a:r>
              <a:rPr lang="es-CO" sz="1500" b="1" i="0" noProof="0" dirty="0" err="1">
                <a:solidFill>
                  <a:srgbClr val="1A3A5C"/>
                </a:solidFill>
              </a:rPr>
              <a:t>pts</a:t>
            </a:r>
            <a:endParaRPr lang="es-CO" sz="1500" b="1" i="0" noProof="0" dirty="0">
              <a:solidFill>
                <a:srgbClr val="1A3A5C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4" name="TextBox 33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28600"/>
            <a:ext cx="114300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FFFFF"/>
                </a:solidFill>
              </a:rPr>
              <a:t>PROYECTO INTEGRADOR – OPCIONES Y REGLAS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0" i="0" noProof="0" dirty="0">
                <a:solidFill>
                  <a:srgbClr val="444444"/>
                </a:solidFill>
              </a:rPr>
              <a:t>A lo largo del semestre desarrollarás un proyecto que aplica los tres pilares del curso. Elige una de las siguientes temáticas o propón la tuya: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2697480" cy="329184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57200" y="2359152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0" i="0" noProof="0" dirty="0">
                <a:solidFill>
                  <a:srgbClr val="FFFFFF"/>
                </a:solidFill>
              </a:rPr>
              <a:t>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Seguidor
de Línea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b="0" i="0" noProof="0" dirty="0">
                <a:solidFill>
                  <a:srgbClr val="FFFFFF"/>
                </a:solidFill>
              </a:rPr>
              <a:t>Sigue trayectorias mediante sensores IR y control automático de motores.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286000"/>
            <a:ext cx="2697480" cy="3291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3337560" y="2359152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0" i="0" noProof="0" dirty="0">
                <a:solidFill>
                  <a:srgbClr val="FFFFFF"/>
                </a:solidFill>
              </a:rPr>
              <a:t>🏎️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3200400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Velocistas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4041648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b="0" i="0" noProof="0" dirty="0">
                <a:solidFill>
                  <a:srgbClr val="FFFFFF"/>
                </a:solidFill>
              </a:rPr>
              <a:t>Competencia de velocidad con detección de pista y control autónomo PID.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2286000"/>
            <a:ext cx="2697480" cy="3291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217920" y="2359152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0" i="0" noProof="0" dirty="0">
                <a:solidFill>
                  <a:srgbClr val="FFFFFF"/>
                </a:solidFill>
              </a:rP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200400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Balancín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041648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b="0" i="0" noProof="0" dirty="0">
                <a:solidFill>
                  <a:srgbClr val="FFFFFF"/>
                </a:solidFill>
              </a:rPr>
              <a:t>Sistema de control de equilibrio dinámico (péndulo invertido o bola-plataforma).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98280" y="2286000"/>
            <a:ext cx="2697480" cy="3291840"/>
          </a:xfrm>
          <a:prstGeom prst="rect">
            <a:avLst/>
          </a:prstGeom>
          <a:solidFill>
            <a:srgbClr val="6C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0" name="TextBox 19"/>
          <p:cNvSpPr txBox="1"/>
          <p:nvPr/>
        </p:nvSpPr>
        <p:spPr>
          <a:xfrm>
            <a:off x="9098280" y="2359152"/>
            <a:ext cx="26974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2800" b="0" i="0" noProof="0" dirty="0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3200400"/>
            <a:ext cx="25146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600" b="1" i="0" noProof="0" dirty="0">
                <a:solidFill>
                  <a:srgbClr val="FFFFFF"/>
                </a:solidFill>
              </a:rPr>
              <a:t>Propuesta
Propia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041648"/>
            <a:ext cx="2514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b="0" i="0" noProof="0" dirty="0">
                <a:solidFill>
                  <a:srgbClr val="FFFFFF"/>
                </a:solidFill>
              </a:rPr>
              <a:t>Proyecto propuesto por el estudiante, debe ser aprobado por el docente.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760720"/>
            <a:ext cx="11521440" cy="7772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548640" y="583387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300" b="1" i="0" noProof="0" dirty="0">
                <a:solidFill>
                  <a:srgbClr val="1A3A5C"/>
                </a:solidFill>
              </a:rPr>
              <a:t>👥  Trabajo en parejas.  |  ⚠️  Grupos de 3: rúbricas y dificultad ajustadas a criterio del docente.  |  ✅  Propuesta propia: requiere aprobación previa.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6" name="TextBox 25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TextBox 3"/>
          <p:cNvSpPr txBox="1"/>
          <p:nvPr/>
        </p:nvSpPr>
        <p:spPr>
          <a:xfrm>
            <a:off x="365760" y="164592"/>
            <a:ext cx="11521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2600" b="1" i="0" noProof="0" dirty="0">
                <a:solidFill>
                  <a:srgbClr val="FFFFFF"/>
                </a:solidFill>
              </a:rPr>
              <a:t>RECURSOS Y BIBLIOGRAFÍA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715000" cy="23317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715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033272"/>
            <a:ext cx="5440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📚 Libros de referencia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440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• Bolton, W. (2017). Mecatrónica (6ª ed.). Alfaomega.
• Areny, R. (2004). Sensores y acondicionadores de señal. Marcombo.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960120"/>
            <a:ext cx="5715000" cy="2331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Rectangle 9"/>
          <p:cNvSpPr/>
          <p:nvPr/>
        </p:nvSpPr>
        <p:spPr>
          <a:xfrm>
            <a:off x="6263640" y="960120"/>
            <a:ext cx="5715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400800" y="1033272"/>
            <a:ext cx="5440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🌐 Comunidades en línea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600200"/>
            <a:ext cx="5440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• IEEE </a:t>
            </a:r>
            <a:r>
              <a:rPr lang="es-CO" sz="1200" b="0" i="0" noProof="0" dirty="0" err="1">
                <a:solidFill>
                  <a:srgbClr val="FFFFFF"/>
                </a:solidFill>
              </a:rPr>
              <a:t>Robotics</a:t>
            </a:r>
            <a:r>
              <a:rPr lang="es-CO" sz="1200" b="0" i="0" noProof="0" dirty="0">
                <a:solidFill>
                  <a:srgbClr val="FFFFFF"/>
                </a:solidFill>
              </a:rPr>
              <a:t> &amp; </a:t>
            </a:r>
            <a:r>
              <a:rPr lang="es-CO" sz="1200" b="0" i="0" noProof="0" dirty="0" err="1">
                <a:solidFill>
                  <a:srgbClr val="FFFFFF"/>
                </a:solidFill>
              </a:rPr>
              <a:t>Automation</a:t>
            </a:r>
            <a:r>
              <a:rPr lang="es-CO" sz="1200" b="0" i="0" noProof="0" dirty="0">
                <a:solidFill>
                  <a:srgbClr val="FFFFFF"/>
                </a:solidFill>
              </a:rPr>
              <a:t> </a:t>
            </a:r>
            <a:r>
              <a:rPr lang="es-CO" sz="1200" b="0" i="0" noProof="0" dirty="0" err="1">
                <a:solidFill>
                  <a:srgbClr val="FFFFFF"/>
                </a:solidFill>
              </a:rPr>
              <a:t>Society</a:t>
            </a:r>
            <a:r>
              <a:rPr lang="es-CO" sz="1200" b="0" i="0" noProof="0" dirty="0">
                <a:solidFill>
                  <a:srgbClr val="FFFFFF"/>
                </a:solidFill>
              </a:rPr>
              <a:t>: ieee-ras.org
• </a:t>
            </a:r>
            <a:r>
              <a:rPr lang="es-CO" sz="1200" b="0" i="0" noProof="0" dirty="0" err="1">
                <a:solidFill>
                  <a:srgbClr val="FFFFFF"/>
                </a:solidFill>
              </a:rPr>
              <a:t>RobotShop</a:t>
            </a:r>
            <a:r>
              <a:rPr lang="es-CO" sz="1200" b="0" i="0" noProof="0" dirty="0">
                <a:solidFill>
                  <a:srgbClr val="FFFFFF"/>
                </a:solidFill>
              </a:rPr>
              <a:t>: eu.robotshop.com/es
• </a:t>
            </a:r>
            <a:r>
              <a:rPr lang="es-CO" sz="1200" b="0" i="0" noProof="0" dirty="0" err="1">
                <a:solidFill>
                  <a:srgbClr val="FFFFFF"/>
                </a:solidFill>
              </a:rPr>
              <a:t>Instructables</a:t>
            </a:r>
            <a:r>
              <a:rPr lang="es-CO" sz="1200" b="0" i="0" noProof="0" dirty="0">
                <a:solidFill>
                  <a:srgbClr val="FFFFFF"/>
                </a:solidFill>
              </a:rPr>
              <a:t>: instructables.com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447288"/>
            <a:ext cx="5715000" cy="2331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4" name="Rectangle 13"/>
          <p:cNvSpPr/>
          <p:nvPr/>
        </p:nvSpPr>
        <p:spPr>
          <a:xfrm>
            <a:off x="365760" y="3447288"/>
            <a:ext cx="5715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502920" y="3520440"/>
            <a:ext cx="5440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🛠 Herramientas y plataformas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087368"/>
            <a:ext cx="5440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• Arduino: arduino.cc
• Raspberry Pi: raspberrypi.com
• </a:t>
            </a:r>
            <a:r>
              <a:rPr lang="es-CO" sz="1200" b="0" i="0" noProof="0" dirty="0" err="1">
                <a:solidFill>
                  <a:srgbClr val="FFFFFF"/>
                </a:solidFill>
              </a:rPr>
              <a:t>Fusion</a:t>
            </a:r>
            <a:r>
              <a:rPr lang="es-CO" sz="1200" b="0" i="0" noProof="0" dirty="0">
                <a:solidFill>
                  <a:srgbClr val="FFFFFF"/>
                </a:solidFill>
              </a:rPr>
              <a:t> 360: autodesk.com
• </a:t>
            </a:r>
            <a:r>
              <a:rPr lang="es-CO" sz="1200" b="0" i="0" noProof="0" dirty="0" err="1">
                <a:solidFill>
                  <a:srgbClr val="FFFFFF"/>
                </a:solidFill>
              </a:rPr>
              <a:t>FreeCAD</a:t>
            </a:r>
            <a:r>
              <a:rPr lang="es-CO" sz="1200" b="0" i="0" noProof="0" dirty="0">
                <a:solidFill>
                  <a:srgbClr val="FFFFFF"/>
                </a:solidFill>
              </a:rPr>
              <a:t>: freecad.org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447288"/>
            <a:ext cx="5715000" cy="2331720"/>
          </a:xfrm>
          <a:prstGeom prst="rect">
            <a:avLst/>
          </a:prstGeom>
          <a:solidFill>
            <a:srgbClr val="6C3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8" name="Rectangle 17"/>
          <p:cNvSpPr/>
          <p:nvPr/>
        </p:nvSpPr>
        <p:spPr>
          <a:xfrm>
            <a:off x="6263640" y="3447288"/>
            <a:ext cx="571500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400800" y="3520440"/>
            <a:ext cx="5440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300" b="1" i="0" noProof="0" dirty="0">
                <a:solidFill>
                  <a:srgbClr val="FFFFFF"/>
                </a:solidFill>
              </a:rPr>
              <a:t>🎓 Recursos educativos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87368"/>
            <a:ext cx="54406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200" b="0" i="0" noProof="0" dirty="0">
                <a:solidFill>
                  <a:srgbClr val="FFFFFF"/>
                </a:solidFill>
              </a:rPr>
              <a:t>• NI (LabVIEW): ni.com/es
• </a:t>
            </a:r>
            <a:r>
              <a:rPr lang="es-CO" sz="1200" b="0" i="0" noProof="0" dirty="0" err="1">
                <a:solidFill>
                  <a:srgbClr val="FFFFFF"/>
                </a:solidFill>
              </a:rPr>
              <a:t>Thingiverse</a:t>
            </a:r>
            <a:r>
              <a:rPr lang="es-CO" sz="1200" b="0" i="0" noProof="0" dirty="0">
                <a:solidFill>
                  <a:srgbClr val="FFFFFF"/>
                </a:solidFill>
              </a:rPr>
              <a:t>: thingiverse.com
• </a:t>
            </a:r>
            <a:r>
              <a:rPr lang="es-CO" sz="1200" b="0" i="0" noProof="0" dirty="0" err="1">
                <a:solidFill>
                  <a:srgbClr val="FFFFFF"/>
                </a:solidFill>
              </a:rPr>
              <a:t>GrabCAD</a:t>
            </a:r>
            <a:r>
              <a:rPr lang="es-CO" sz="1200" b="0" i="0" noProof="0" dirty="0">
                <a:solidFill>
                  <a:srgbClr val="FFFFFF"/>
                </a:solidFill>
              </a:rPr>
              <a:t>: grabcad.com
• </a:t>
            </a:r>
            <a:r>
              <a:rPr lang="es-CO" sz="1200" b="0" i="0" noProof="0" dirty="0" err="1">
                <a:solidFill>
                  <a:srgbClr val="FFFFFF"/>
                </a:solidFill>
              </a:rPr>
              <a:t>Traceparts</a:t>
            </a:r>
            <a:r>
              <a:rPr lang="es-CO" sz="1200" b="0" i="0" noProof="0" dirty="0">
                <a:solidFill>
                  <a:srgbClr val="FFFFFF"/>
                </a:solidFill>
              </a:rPr>
              <a:t>: traceparts.com/es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22" name="TextBox 21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Configuración de Sistemas Mecatrónicos  |  Semestre 2026-1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4" name="Rectangle 3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6" name="Rectangle 5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3600" b="1" i="0" noProof="0" dirty="0">
                <a:solidFill>
                  <a:srgbClr val="27AE60"/>
                </a:solidFill>
              </a:rPr>
              <a:t>¡BIENVENIDOS AL CURSO!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286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800" b="0" i="0" noProof="0" dirty="0">
                <a:solidFill>
                  <a:srgbClr val="FFFFFF"/>
                </a:solidFill>
              </a:rPr>
              <a:t>Configuración de Sistemas Mecatrónicos  •  Semestre 2026-1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2971800"/>
            <a:ext cx="8503920" cy="3657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0" y="3246120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0" i="0" noProof="0" dirty="0">
                <a:solidFill>
                  <a:srgbClr val="CCDDFF"/>
                </a:solidFill>
              </a:rPr>
              <a:t>✅  Revisar el cronograma y las fechas de entrega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849624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0" i="0" noProof="0" dirty="0">
                <a:solidFill>
                  <a:srgbClr val="CCDDFF"/>
                </a:solidFill>
              </a:rPr>
              <a:t>✅  Definir la temática de tu proyecto integrador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453128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0" i="0" noProof="0" dirty="0">
                <a:solidFill>
                  <a:srgbClr val="CCDDFF"/>
                </a:solidFill>
              </a:rPr>
              <a:t>✅  Conformar tu equipo (parejas; grupos de 3 con ajuste de rúbrica y docente)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056632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0" i="0" noProof="0" dirty="0">
                <a:solidFill>
                  <a:srgbClr val="CCDDFF"/>
                </a:solidFill>
              </a:rPr>
              <a:t>✅  Acceder a los recursos y material complementario del curso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660136"/>
            <a:ext cx="8686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CO" sz="1400" b="0" i="0" noProof="0" dirty="0">
                <a:solidFill>
                  <a:srgbClr val="CCDDFF"/>
                </a:solidFill>
              </a:rPr>
              <a:t>✅  Comenzar la búsqueda de componentes para el proyecto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200" b="0" i="1" noProof="0" dirty="0">
                <a:solidFill>
                  <a:srgbClr val="F39C12"/>
                </a:solidFill>
              </a:rPr>
              <a:t>« La mecatrónica reúne lo mejor de la mecánica, la electrónica y la informática para construir el futuro. 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1F6F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274320" y="6382512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O" sz="1000" b="0" i="0" noProof="0" dirty="0">
                <a:solidFill>
                  <a:srgbClr val="FFFFFF"/>
                </a:solidFill>
              </a:rPr>
              <a:t>Instituto Tecnológico Metropolitano – Facultad de Ingenierías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2089</Words>
  <Application>Microsoft Office PowerPoint</Application>
  <PresentationFormat>Personalizado</PresentationFormat>
  <Paragraphs>292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 MENA PALOMEQUE</cp:lastModifiedBy>
  <cp:revision>2</cp:revision>
  <dcterms:created xsi:type="dcterms:W3CDTF">2013-01-27T09:14:16Z</dcterms:created>
  <dcterms:modified xsi:type="dcterms:W3CDTF">2026-04-14T22:49:00Z</dcterms:modified>
  <cp:category/>
</cp:coreProperties>
</file>